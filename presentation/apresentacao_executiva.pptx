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36b3fea4-31a4-b9c8-b7aa-490b44ca4364}">
          <p14:sldIdLst>
            <p14:sldId id="256"/>
          </p14:sldIdLst>
        </p14:section>
        <p14:section name="Resumo" id="{07adc2de-9d7e-9493-29aa-e4a32b819a1b}">
          <p14:sldIdLst>
            <p14:sldId id="257"/>
          </p14:sldIdLst>
        </p14:section>
        <p14:section name="Contexto" id="{66bfa690-3d3a-29c7-3667-c4ddea164b00}">
          <p14:sldIdLst>
            <p14:sldId id="258"/>
          </p14:sldIdLst>
        </p14:section>
        <p14:section name="Análise exploratória" id="{e1254405-df98-2e1e-9228-3dda7d4b8527}">
          <p14:sldIdLst>
            <p14:sldId id="259"/>
            <p14:sldId id="260"/>
            <p14:sldId id="261"/>
            <p14:sldId id="262"/>
            <p14:sldId id="263"/>
          </p14:sldIdLst>
        </p14:section>
        <p14:section name="Resultados" id="{3973fc9b-c156-ba70-4b8d-5f626dfaa4a3}">
          <p14:sldIdLst>
            <p14:sldId id="264"/>
            <p14:sldId id="265"/>
            <p14:sldId id="266"/>
            <p14:sldId id="267"/>
          </p14:sldIdLst>
        </p14:section>
        <p14:section name="Recomendações" id="{7cf412ed-53eb-dd7a-edae-bb67ecdd5583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2464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2464B"/>
                </a:solidFill>
                <a:latin typeface="+mn-lt"/>
              </a:rPr>
              <a:t>Quantidade de vinhos por nota dos especialistas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Baixa/Média qualidade</c:v>
                </c:pt>
              </c:strCache>
            </c:strRef>
          </c:tx>
          <c:spPr>
            <a:solidFill>
              <a:srgbClr val="A8979E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B1B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3</c:v>
                  </c:pt>
                  <c:pt idx="1">
                    <c:v>4</c:v>
                  </c:pt>
                  <c:pt idx="2">
                    <c:v>5</c:v>
                  </c:pt>
                  <c:pt idx="3">
                    <c:v>6</c:v>
                  </c:pt>
                  <c:pt idx="4">
                    <c:v>7</c:v>
                  </c:pt>
                  <c:pt idx="5">
                    <c:v>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33</c:v>
                </c:pt>
                <c:pt idx="2">
                  <c:v>433</c:v>
                </c:pt>
                <c:pt idx="3">
                  <c:v>409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Alta qualidade</c:v>
                </c:pt>
              </c:strCache>
            </c:strRef>
          </c:tx>
          <c:spPr>
            <a:solidFill>
              <a:srgbClr val="8C1C3A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B1B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3</c:v>
                  </c:pt>
                  <c:pt idx="1">
                    <c:v>4</c:v>
                  </c:pt>
                  <c:pt idx="2">
                    <c:v>5</c:v>
                  </c:pt>
                  <c:pt idx="3">
                    <c:v>6</c:v>
                  </c:pt>
                  <c:pt idx="4">
                    <c:v>7</c:v>
                  </c:pt>
                  <c:pt idx="5">
                    <c:v>8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122</c:v>
                </c:pt>
                <c:pt idx="5">
                  <c:v>15</c:v>
                </c:pt>
              </c:numCache>
            </c:numRef>
          </c:val>
        </c:ser>
        <c:dLbls>
          <c:numFmt formatCode="#,##0;;" sourceLinked="0"/>
          <c:txPr>
            <a:bodyPr/>
            <a:lstStyle/>
            <a:p>
              <a:pPr>
                <a:defRPr b="0" i="0" strike="noStrike" sz="1300" u="none">
                  <a:solidFill>
                    <a:srgbClr val="2B1B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464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2464B"/>
                    </a:solidFill>
                    <a:latin typeface="Arial"/>
                  </a:rPr>
                  <a:t>Nota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2464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"/>
        </c:scaling>
        <c:delete val="0"/>
        <c:axPos val="l"/>
        <c:majorGridlines>
          <c:spPr>
            <a:ln w="9525" cap="flat">
              <a:solidFill>
                <a:srgbClr val="E6DF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464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52464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2464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2464B"/>
                </a:solidFill>
                <a:latin typeface="+mn-lt"/>
              </a:rPr>
              <a:t>% de vinhos de alta qualidade por faixa de teor alcoólico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vinhos de alta qualidade</c:v>
                </c:pt>
              </c:strCache>
            </c:strRef>
          </c:tx>
          <c:spPr>
            <a:solidFill>
              <a:srgbClr val="8C1C3A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B1B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 9,5%</c:v>
                  </c:pt>
                  <c:pt idx="1">
                    <c:v>9,5–10,5%</c:v>
                  </c:pt>
                  <c:pt idx="2">
                    <c:v>10,5–11,5%</c:v>
                  </c:pt>
                  <c:pt idx="3">
                    <c:v>11,5–12,5%</c:v>
                  </c:pt>
                  <c:pt idx="4">
                    <c:v>≥ 12,5%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0.005</c:v>
                </c:pt>
                <c:pt idx="1">
                  <c:v>0.041</c:v>
                </c:pt>
                <c:pt idx="2">
                  <c:v>0.169</c:v>
                </c:pt>
                <c:pt idx="3">
                  <c:v>0.397</c:v>
                </c:pt>
                <c:pt idx="4">
                  <c:v>0.431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300" u="none">
                  <a:solidFill>
                    <a:srgbClr val="2B1B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2464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</c:scaling>
        <c:delete val="0"/>
        <c:axPos val="l"/>
        <c:majorGridlines>
          <c:spPr>
            <a:ln w="9525" cap="flat">
              <a:solidFill>
                <a:srgbClr val="E6DFE2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464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2464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2464B"/>
                </a:solidFill>
                <a:latin typeface="+mn-lt"/>
              </a:rPr>
              <a:t>% de vinhos de alta qualidade por faixa de acidez volátil (g/L)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vinhos de alta qualidade</c:v>
                </c:pt>
              </c:strCache>
            </c:strRef>
          </c:tx>
          <c:spPr>
            <a:solidFill>
              <a:srgbClr val="A8979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B1B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&lt; 0,3</c:v>
                  </c:pt>
                  <c:pt idx="1">
                    <c:v>0,3–0,4</c:v>
                  </c:pt>
                  <c:pt idx="2">
                    <c:v>0,4–0,5</c:v>
                  </c:pt>
                  <c:pt idx="3">
                    <c:v>0,5–0,6</c:v>
                  </c:pt>
                  <c:pt idx="4">
                    <c:v>0,6–0,7</c:v>
                  </c:pt>
                  <c:pt idx="5">
                    <c:v>≥ 0,7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0.378</c:v>
                </c:pt>
                <c:pt idx="1">
                  <c:v>0.284</c:v>
                </c:pt>
                <c:pt idx="2">
                  <c:v>0.149</c:v>
                </c:pt>
                <c:pt idx="3">
                  <c:v>0.088</c:v>
                </c:pt>
                <c:pt idx="4">
                  <c:v>0.04</c:v>
                </c:pt>
                <c:pt idx="5">
                  <c:v>0.012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300" u="none">
                  <a:solidFill>
                    <a:srgbClr val="2B1B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2464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</c:scaling>
        <c:delete val="0"/>
        <c:axPos val="l"/>
        <c:majorGridlines>
          <c:spPr>
            <a:ln w="9525" cap="flat">
              <a:solidFill>
                <a:srgbClr val="E6DFE2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464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2464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2464B"/>
                </a:solidFill>
                <a:latin typeface="+mn-lt"/>
              </a:rPr>
              <a:t>Força da relação de cada medida com a nota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Eleva a nota</c:v>
                </c:pt>
              </c:strCache>
            </c:strRef>
          </c:tx>
          <c:spPr>
            <a:solidFill>
              <a:srgbClr val="8C1C3A"/>
            </a:solidFill>
            <a:effectLst/>
          </c:spPr>
          <c:invertIfNegative val="0"/>
          <c:dLbls>
            <c:numFmt formatCode="+&quot;0,&quot;00;-&quot;0,&quot;00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B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Acidez volátil</c:v>
                  </c:pt>
                  <c:pt idx="1">
                    <c:v>Cloretos</c:v>
                  </c:pt>
                  <c:pt idx="2">
                    <c:v>SO₂ total</c:v>
                  </c:pt>
                  <c:pt idx="3">
                    <c:v>Densidade</c:v>
                  </c:pt>
                  <c:pt idx="4">
                    <c:v>SO₂ livre</c:v>
                  </c:pt>
                  <c:pt idx="5">
                    <c:v>pH</c:v>
                  </c:pt>
                  <c:pt idx="6">
                    <c:v>Açúcar residual</c:v>
                  </c:pt>
                  <c:pt idx="7">
                    <c:v>Acidez fixa</c:v>
                  </c:pt>
                  <c:pt idx="8">
                    <c:v>Ácido cítrico</c:v>
                  </c:pt>
                  <c:pt idx="9">
                    <c:v>Sulfatos</c:v>
                  </c:pt>
                  <c:pt idx="10">
                    <c:v>Teor alcoólico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3</c:v>
                </c:pt>
                <c:pt idx="7">
                  <c:v>11</c:v>
                </c:pt>
                <c:pt idx="8">
                  <c:v>23</c:v>
                </c:pt>
                <c:pt idx="9">
                  <c:v>39</c:v>
                </c:pt>
                <c:pt idx="10">
                  <c:v>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Derruba a nota</c:v>
                </c:pt>
              </c:strCache>
            </c:strRef>
          </c:tx>
          <c:spPr>
            <a:solidFill>
              <a:srgbClr val="A8979E"/>
            </a:solidFill>
            <a:effectLst/>
          </c:spPr>
          <c:invertIfNegative val="0"/>
          <c:dLbls>
            <c:numFmt formatCode="+&quot;0,&quot;00;-&quot;0,&quot;00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B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Acidez volátil</c:v>
                  </c:pt>
                  <c:pt idx="1">
                    <c:v>Cloretos</c:v>
                  </c:pt>
                  <c:pt idx="2">
                    <c:v>SO₂ total</c:v>
                  </c:pt>
                  <c:pt idx="3">
                    <c:v>Densidade</c:v>
                  </c:pt>
                  <c:pt idx="4">
                    <c:v>SO₂ livre</c:v>
                  </c:pt>
                  <c:pt idx="5">
                    <c:v>pH</c:v>
                  </c:pt>
                  <c:pt idx="6">
                    <c:v>Açúcar residual</c:v>
                  </c:pt>
                  <c:pt idx="7">
                    <c:v>Acidez fixa</c:v>
                  </c:pt>
                  <c:pt idx="8">
                    <c:v>Ácido cítrico</c:v>
                  </c:pt>
                  <c:pt idx="9">
                    <c:v>Sulfatos</c:v>
                  </c:pt>
                  <c:pt idx="10">
                    <c:v>Teor alcoólico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-40</c:v>
                </c:pt>
                <c:pt idx="1">
                  <c:v>-21</c:v>
                </c:pt>
                <c:pt idx="2">
                  <c:v>-20</c:v>
                </c:pt>
                <c:pt idx="3">
                  <c:v>-18</c:v>
                </c:pt>
                <c:pt idx="4">
                  <c:v>-7</c:v>
                </c:pt>
                <c:pt idx="5">
                  <c:v>-4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+&quot;0,&quot;00;-&quot;0,&quot;00;" sourceLinked="0"/>
          <c:txPr>
            <a:bodyPr/>
            <a:lstStyle/>
            <a:p>
              <a:pPr>
                <a:defRPr b="0" i="0" strike="noStrike" sz="1100" u="none">
                  <a:solidFill>
                    <a:srgbClr val="2B1B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464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-60"/>
        </c:scaling>
        <c:delete val="0"/>
        <c:axPos val="b"/>
        <c:majorGridlines>
          <c:spPr>
            <a:ln w="9525" cap="flat">
              <a:solidFill>
                <a:srgbClr val="E6DFE2"/>
              </a:solidFill>
              <a:prstDash val="solid"/>
              <a:round/>
            </a:ln>
          </c:spPr>
        </c:majorGridlines>
        <c:numFmt formatCode="+&quot;0,&quot;00;-&quot;0,&quot;00;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464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2464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2464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2464B"/>
                </a:solidFill>
                <a:latin typeface="+mn-lt"/>
              </a:rPr>
              <a:t>Teste com 204 vinhos nunca vistos pela ferramenta (27 excelentes)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Excelentes encontrados (de 27)</c:v>
                </c:pt>
              </c:strCache>
            </c:strRef>
          </c:tx>
          <c:spPr>
            <a:solidFill>
              <a:srgbClr val="8C1C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B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Floresta de decisões</c:v>
                  </c:pt>
                  <c:pt idx="1">
                    <c:v>Fórmula estatística</c:v>
                  </c:pt>
                  <c:pt idx="2">
                    <c:v>Árvore de regras</c:v>
                  </c:pt>
                  <c:pt idx="3">
                    <c:v>Fronteira de separação</c:v>
                  </c:pt>
                  <c:pt idx="4">
                    <c:v>Vinhos semelhantes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</c:v>
                </c:pt>
                <c:pt idx="1">
                  <c:v>21</c:v>
                </c:pt>
                <c:pt idx="2">
                  <c:v>21</c:v>
                </c:pt>
                <c:pt idx="3">
                  <c:v>19</c:v>
                </c:pt>
                <c:pt idx="4">
                  <c:v>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Alarmes falsos (vinhos comuns apontados como excelentes)</c:v>
                </c:pt>
              </c:strCache>
            </c:strRef>
          </c:tx>
          <c:spPr>
            <a:solidFill>
              <a:srgbClr val="A897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B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Floresta de decisões</c:v>
                  </c:pt>
                  <c:pt idx="1">
                    <c:v>Fórmula estatística</c:v>
                  </c:pt>
                  <c:pt idx="2">
                    <c:v>Árvore de regras</c:v>
                  </c:pt>
                  <c:pt idx="3">
                    <c:v>Fronteira de separação</c:v>
                  </c:pt>
                  <c:pt idx="4">
                    <c:v>Vinhos semelhantes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</c:v>
                </c:pt>
                <c:pt idx="1">
                  <c:v>37</c:v>
                </c:pt>
                <c:pt idx="2">
                  <c:v>29</c:v>
                </c:pt>
                <c:pt idx="3">
                  <c:v>30</c:v>
                </c:pt>
                <c:pt idx="4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1B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464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9525" cap="flat">
              <a:solidFill>
                <a:srgbClr val="E6DF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464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2464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 a ferramenta</c:v>
                </c:pt>
              </c:strCache>
            </c:strRef>
          </c:tx>
          <c:spPr>
            <a:solidFill>
              <a:srgbClr val="8C1C3A"/>
            </a:solidFill>
            <a:ln w="38100" cap="flat">
              <a:solidFill>
                <a:srgbClr val="8C1C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B1B2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C1C3A"/>
              </a:solidFill>
              <a:ln w="9525" cap="flat">
                <a:solidFill>
                  <a:srgbClr val="8C1C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 </c:v>
                  </c:pt>
                  <c:pt idx="2">
                    <c:v>10</c:v>
                  </c:pt>
                  <c:pt idx="3">
                    <c:v> </c:v>
                  </c:pt>
                  <c:pt idx="4">
                    <c:v>20</c:v>
                  </c:pt>
                  <c:pt idx="5">
                    <c:v> </c:v>
                  </c:pt>
                  <c:pt idx="6">
                    <c:v>30</c:v>
                  </c:pt>
                  <c:pt idx="7">
                    <c:v> </c:v>
                  </c:pt>
                  <c:pt idx="8">
                    <c:v>40</c:v>
                  </c:pt>
                  <c:pt idx="9">
                    <c:v> </c:v>
                  </c:pt>
                  <c:pt idx="10">
                    <c:v>50</c:v>
                  </c:pt>
                  <c:pt idx="11">
                    <c:v> </c:v>
                  </c:pt>
                  <c:pt idx="12">
                    <c:v>60</c:v>
                  </c:pt>
                  <c:pt idx="13">
                    <c:v> </c:v>
                  </c:pt>
                  <c:pt idx="14">
                    <c:v>70</c:v>
                  </c:pt>
                  <c:pt idx="15">
                    <c:v> </c:v>
                  </c:pt>
                  <c:pt idx="16">
                    <c:v>80</c:v>
                  </c:pt>
                  <c:pt idx="17">
                    <c:v> </c:v>
                  </c:pt>
                  <c:pt idx="18">
                    <c:v>90</c:v>
                  </c:pt>
                  <c:pt idx="19">
                    <c:v> </c:v>
                  </c:pt>
                  <c:pt idx="20">
                    <c:v>100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0.2962962962962963</c:v>
                </c:pt>
                <c:pt idx="2">
                  <c:v>0.5185185185185185</c:v>
                </c:pt>
                <c:pt idx="3">
                  <c:v>0.6296296296296297</c:v>
                </c:pt>
                <c:pt idx="4">
                  <c:v>0.7407407407407407</c:v>
                </c:pt>
                <c:pt idx="5">
                  <c:v>0.8518518518518519</c:v>
                </c:pt>
                <c:pt idx="6">
                  <c:v>0.925925925925926</c:v>
                </c:pt>
                <c:pt idx="7">
                  <c:v>0.9629629629629628</c:v>
                </c:pt>
                <c:pt idx="8">
                  <c:v>0.9629629629629628</c:v>
                </c:pt>
                <c:pt idx="9">
                  <c:v>0.9629629629629628</c:v>
                </c:pt>
                <c:pt idx="10">
                  <c:v>0.9629629629629628</c:v>
                </c:pt>
                <c:pt idx="11">
                  <c:v>0.9629629629629628</c:v>
                </c:pt>
                <c:pt idx="12">
                  <c:v>0.9629629629629628</c:v>
                </c:pt>
                <c:pt idx="13">
                  <c:v>0.9629629629629628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Sem a ferramenta (lotes ao acaso)</c:v>
                </c:pt>
              </c:strCache>
            </c:strRef>
          </c:tx>
          <c:spPr>
            <a:solidFill>
              <a:srgbClr val="A8979E"/>
            </a:solidFill>
            <a:ln w="38100" cap="flat">
              <a:solidFill>
                <a:srgbClr val="A897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B1B2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A8979E"/>
              </a:solidFill>
              <a:ln w="9525" cap="flat">
                <a:solidFill>
                  <a:srgbClr val="A897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 </c:v>
                  </c:pt>
                  <c:pt idx="2">
                    <c:v>10</c:v>
                  </c:pt>
                  <c:pt idx="3">
                    <c:v> </c:v>
                  </c:pt>
                  <c:pt idx="4">
                    <c:v>20</c:v>
                  </c:pt>
                  <c:pt idx="5">
                    <c:v> </c:v>
                  </c:pt>
                  <c:pt idx="6">
                    <c:v>30</c:v>
                  </c:pt>
                  <c:pt idx="7">
                    <c:v> </c:v>
                  </c:pt>
                  <c:pt idx="8">
                    <c:v>40</c:v>
                  </c:pt>
                  <c:pt idx="9">
                    <c:v> </c:v>
                  </c:pt>
                  <c:pt idx="10">
                    <c:v>50</c:v>
                  </c:pt>
                  <c:pt idx="11">
                    <c:v> </c:v>
                  </c:pt>
                  <c:pt idx="12">
                    <c:v>60</c:v>
                  </c:pt>
                  <c:pt idx="13">
                    <c:v> </c:v>
                  </c:pt>
                  <c:pt idx="14">
                    <c:v>70</c:v>
                  </c:pt>
                  <c:pt idx="15">
                    <c:v> </c:v>
                  </c:pt>
                  <c:pt idx="16">
                    <c:v>80</c:v>
                  </c:pt>
                  <c:pt idx="17">
                    <c:v> </c:v>
                  </c:pt>
                  <c:pt idx="18">
                    <c:v>90</c:v>
                  </c:pt>
                  <c:pt idx="19">
                    <c:v> </c:v>
                  </c:pt>
                  <c:pt idx="20">
                    <c:v>100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0.15000000000000002</c:v>
                </c:pt>
                <c:pt idx="4">
                  <c:v>0.2</c:v>
                </c:pt>
                <c:pt idx="5">
                  <c:v>0.25</c:v>
                </c:pt>
                <c:pt idx="6">
                  <c:v>0.30000000000000004</c:v>
                </c:pt>
                <c:pt idx="7">
                  <c:v>0.35000000000000003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</c:v>
                </c:pt>
                <c:pt idx="12">
                  <c:v>0.6000000000000001</c:v>
                </c:pt>
                <c:pt idx="13">
                  <c:v>0.65</c:v>
                </c:pt>
                <c:pt idx="14">
                  <c:v>0.7000000000000001</c:v>
                </c:pt>
                <c:pt idx="15">
                  <c:v>0.75</c:v>
                </c:pt>
                <c:pt idx="16">
                  <c:v>0.8</c:v>
                </c:pt>
                <c:pt idx="17">
                  <c:v>0.8500000000000001</c:v>
                </c:pt>
                <c:pt idx="18">
                  <c:v>0.9</c:v>
                </c:pt>
                <c:pt idx="19">
                  <c:v>0.9500000000000001</c:v>
                </c:pt>
                <c:pt idx="2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2B1B22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464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2464B"/>
                    </a:solidFill>
                    <a:latin typeface="Arial"/>
                  </a:rPr>
                  <a:t>% dos lotes avaliados, do mais para o menos promissor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464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6DFE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464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2464B"/>
                    </a:solidFill>
                    <a:latin typeface="Arial"/>
                  </a:rPr>
                  <a:t>% dos excelentes encontrados</a:t>
                </a:r>
              </a:p>
            </c:rich>
          </c:tx>
          <c:layout/>
          <c:overlay val="0"/>
        </c:title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464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2464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2464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2464B"/>
                </a:solidFill>
                <a:latin typeface="+mn-lt"/>
              </a:rPr>
              <a:t>Chance prevista de um vinho típico ser excelente, por cenário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Chance prevista de alta qualidade</c:v>
                </c:pt>
              </c:strCache>
            </c:strRef>
          </c:tx>
          <c:spPr>
            <a:solidFill>
              <a:srgbClr val="8C1C3A"/>
            </a:solidFill>
            <a:effectLst/>
          </c:spPr>
          <c:invertIfNegative val="0"/>
          <c:dLbls>
            <c:numFmt formatCode="0&quot;,&quot;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B1B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Perfil completo (+ sulfatos 0,75)</c:v>
                  </c:pt>
                  <c:pt idx="1">
                    <c:v>As duas metas de processo</c:v>
                  </c:pt>
                  <c:pt idx="2">
                    <c:v>Só acidez volátil → 0,40</c:v>
                  </c:pt>
                  <c:pt idx="3">
                    <c:v>Só álcool → 11,5%</c:v>
                  </c:pt>
                  <c:pt idx="4">
                    <c:v>Vinho típico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237</c:v>
                </c:pt>
                <c:pt idx="1">
                  <c:v>63</c:v>
                </c:pt>
                <c:pt idx="2">
                  <c:v>27</c:v>
                </c:pt>
                <c:pt idx="3">
                  <c:v>45</c:v>
                </c:pt>
                <c:pt idx="4">
                  <c:v>23</c:v>
                </c:pt>
              </c:numCache>
            </c:numRef>
          </c:val>
        </c:ser>
        <c:dLbls>
          <c:numFmt formatCode="0&quot;,&quot;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B1B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464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464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 – 0:16] Olá! Somos Evanio, Michael, Guilherme e Natália. Hoje vamos responder a uma pergunta valiosa para qualquer vinícola: o que torna um vinho excelente? E dá para saber isso antes da avaliação dos especialistas?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[0:16 – 0:38] Começando pelas conclusões: vinhos excelentes são raros, um em cada sete. Três medidas de laboratório explicam a maior parte da diferença: teor alcoólico, acidez volátil e sulfatos. E, com a ferramenta que construímos, avaliando só 30% dos lotes, os especialistas encontram 93% dos vinhos excelentes.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[0:38 – 1:01] Hoje, a qualidade é definida na degustação: um processo valioso, mas subjetivo e que chega tarde. O laboratório, porém, já mede onze características de cada lote. Analisamos mais de mil vinhos tintos, depois de remover 125 registros repetidos. A pergunta é: esses números antecipam a opinião dos especialistas?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[1:01 – 1:20] Só 13,5% dos vinhos receberam nota 7 ou 8. Por isso, acertar muito não basta: quem dissesse 'vinho comum' para todos acertaria 86% das vezes e não encontraria nenhum vinho excelente. Nosso critério de sucesso é encontrar os excelentes.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[1:20 – 1:36] O sinal mais forte é o teor alcoólico. Abaixo de 9,5%, praticamente nenhum vinho é excelente. Acima de 11,5%, quatro em cada dez são. Uvas mais maduras geram mais álcool e mais corpo.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[1:36 – 1:52] Do outro lado está o grande inimigo: a acidez volátil, que em excesso dá cheiro de vinagre. Com níveis baixos, três em cada dez vinhos são excelentes. Com níveis altos, praticamente nenhum.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[1:52 – 2:05] No mapa completo, álcool, sulfatos e ácido cítrico elevam a nota. Acidez volátil, sal e excesso de conservante derrubam. Açúcar e pH quase não fazem diferença.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[2:05 – 2:20] E o mais importante: os sinais se somam. Com álcool alto e acidez volátil baixa, mais da metade dos vinhos é excelente. No extremo oposto, nenhum dos 185 vinhos chegou lá.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[2:20 – 2:45] Com esses dados, treinamos uma ferramenta de previsão e testamos cinco abordagens em 204 vinhos que ela nunca tinha visto. A escolhida encontrou 21 dos 27 excelentes, quase quatro em cada cinco, com menos alarmes falsos. E ela confirma a análise: álcool, sulfatos e acidez volátil são o que mais pesa.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[2:45 – 3:00] Na prática, isso vira uma triagem: ordenando os lotes pela previsão, avaliar 10% deles já encontra metade dos excelentes, e avaliar 30% encontra 93%. Sem a ferramenta, seriam só 30%.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[3:00 – 3:25] Cada lote recebe uma chance prevista e cai em uma de três faixas. Na faixa de prioridade, dois em cada três lotes eram de fato excelentes. Na faixa de baixo potencial, que reúne 70% dos lotes, só 1,4% eram. Na prática, esses lotes podem ter uma avaliação simplificada: são 70% menos avaliações completas.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[3:25 – 3:48] Também simulamos cenários. Um vinho típico tem cerca de 2% de chance de ser excelente. Atingir as duas metas de processo, álcool e acidez volátil, triplica essa chance. E o perfil completo dos melhores vinhos, que também inclui os sulfatos, chega a quase 24%: dez vezes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[3:48 – 4:15] Nossas recomendações: buscar 11,5% de álcool, com boa maturação e fermentação completa; manter a acidez volátil abaixo de 0,4 grama por litro; investigar a origem dos sulfatos, sem aumentar o conservante; e usar a ferramenta para priorizar os lotes. O próximo passo é um piloto na próxima safra, comparando lotes com e sem essas práticas. Obrigado!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E9D9DF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70"/>
                </a:solidFill>
              </a:rPr>
              <a:t>Tech Challenge · Fase 2 · Classificação da qualidade de vinhos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O que torna um vinho excelente?</a:t>
            </a: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E9D9DF"/>
                </a:solidFill>
              </a:rPr>
              <a:t>Como as medidas de laboratório antecipam a avaliação dos especialistas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8463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Evanio Alves Carvalho · Michael Alves Pateis dos Santos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Castilho Feitosa · Natália de Santana Cavalcanti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9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2 · POSTECH Data Analytics (FIAP)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291840" cy="3291840"/>
          </a:xfrm>
          <a:prstGeom prst="ellipse">
            <a:avLst/>
          </a:prstGeom>
          <a:solidFill>
            <a:srgbClr val="8C1C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33172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Resumo executivo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747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828800"/>
            <a:ext cx="731520" cy="731520"/>
          </a:xfrm>
          <a:prstGeom prst="ellipse">
            <a:avLst/>
          </a:prstGeom>
          <a:solidFill>
            <a:srgbClr val="8C1C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201899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743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em 7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61188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vinhos é de alta qualidade (nota ≥ 7). Vinhos excelentes são raros e valiosos.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97680" y="1554480"/>
            <a:ext cx="34747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4617720" y="1828800"/>
            <a:ext cx="731520" cy="731520"/>
          </a:xfrm>
          <a:prstGeom prst="ellipse">
            <a:avLst/>
          </a:prstGeom>
          <a:solidFill>
            <a:srgbClr val="8C1C3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15" y="201899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743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medidas</a:t>
            </a:r>
            <a:endParaRPr lang="en-US" sz="44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61188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separam os excelentes: teor alcoólico, acidez volátil e sulfatos, atuando em conjunto.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046720" y="1554480"/>
            <a:ext cx="34747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8366760" y="1828800"/>
            <a:ext cx="731520" cy="731520"/>
          </a:xfrm>
          <a:prstGeom prst="ellipse">
            <a:avLst/>
          </a:prstGeom>
          <a:solidFill>
            <a:srgbClr val="8C1C3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955" y="201899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66760" y="2743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440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361188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vinhos excelentes são encontrados avaliando só 30% dos lotes indicados pela ferramenta.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68680" y="512064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Recomendação: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de processo para álcool e acidez volátil, sulfatos como sinal a investigar, ferramenta para priorizar a avaliação dos lotes e um piloto na próxima safra.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 desafio: antecipar a nota dos especialistas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949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91640"/>
            <a:ext cx="640080" cy="640080"/>
          </a:xfrm>
          <a:prstGeom prst="ellipse">
            <a:avLst/>
          </a:prstGeom>
          <a:solidFill>
            <a:srgbClr val="A8979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8580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91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51460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definida na degustação: subjetiva e demorada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chega no fim, quando já não dá para corrigir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17920" y="1508760"/>
            <a:ext cx="53949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1691640"/>
            <a:ext cx="640080" cy="640080"/>
          </a:xfrm>
          <a:prstGeom prst="ellipse">
            <a:avLst/>
          </a:prstGeom>
          <a:solidFill>
            <a:srgbClr val="8C1C3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185806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60920" y="1691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proposta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251460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as 11 medidas de laboratório de cada lote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a nota e orientar a produção com antecedência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402336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22960" y="4114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1.018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4846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vinhos tintos analisados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360420" y="402336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3634740" y="4114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</a:t>
            </a:r>
            <a:endParaRPr lang="en-US" sz="3600" dirty="0"/>
          </a:p>
        </p:txBody>
      </p:sp>
      <p:sp>
        <p:nvSpPr>
          <p:cNvPr id="18" name="Text 14"/>
          <p:cNvSpPr txBox="1"/>
          <p:nvPr/>
        </p:nvSpPr>
        <p:spPr>
          <a:xfrm>
            <a:off x="3634740" y="4846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repetidos removidos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172200" y="402336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446520" y="4114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21" name="Text 17"/>
          <p:cNvSpPr txBox="1"/>
          <p:nvPr/>
        </p:nvSpPr>
        <p:spPr>
          <a:xfrm>
            <a:off x="6446520" y="4846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faltantes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983980" y="402336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258300" y="4114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600" dirty="0"/>
          </a:p>
        </p:txBody>
      </p:sp>
      <p:sp>
        <p:nvSpPr>
          <p:cNvPr id="24" name="Text 20"/>
          <p:cNvSpPr txBox="1"/>
          <p:nvPr/>
        </p:nvSpPr>
        <p:spPr>
          <a:xfrm>
            <a:off x="9258300" y="4846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de laboratório + nota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E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extremos foram mantidos: são quimicamente possíveis e representam vinhos reais.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Vinhos excelentes são raros: apenas 1 em cada 7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71323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046720" y="155448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366760" y="1737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13,5%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8366760" y="2606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vinhos receberam nota 7 ou 8 (alta qualidade): 137 de 1.018.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046720" y="388620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321040" y="406908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dissesse "vinho comum" para todos acertaria 86% das vezes e não encontraria nenhum vinho excelente. O sucesso se mede por encontrar os excelentes.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Mais álcool, muito mais chance de excelência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71323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046720" y="155448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8366760" y="1783080"/>
            <a:ext cx="685800" cy="685800"/>
          </a:xfrm>
          <a:prstGeom prst="ellipse">
            <a:avLst/>
          </a:prstGeom>
          <a:solidFill>
            <a:srgbClr val="8C1C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5068" y="196138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66760" y="2651760"/>
            <a:ext cx="3017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Abaixo de 9,5% de álcool, praticamente nenhum vinho é excelente.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de 11,5%, 4 em cada 10 são.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dos excelentes: 11,7%, contra 10,0% dos demais.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fator mais importante de todos.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Acidez volátil: o grande inimigo da qualidade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71323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046720" y="155448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8366760" y="1783080"/>
            <a:ext cx="685800" cy="685800"/>
          </a:xfrm>
          <a:prstGeom prst="ellipse">
            <a:avLst/>
          </a:prstGeom>
          <a:solidFill>
            <a:srgbClr val="A8979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5068" y="196138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66760" y="2651760"/>
            <a:ext cx="3017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acidez volátil vem principalmente do ácido acético: em excesso, dá ao vinho um aroma de vinagre.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menos de 0,4 g/L, 3 em cada 10 vinhos são excelentes.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de 0,7 g/L, praticamente nenhum.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 mapa completo: o que eleva e o que derruba a nota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713232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046720" y="155448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366760" y="1783080"/>
            <a:ext cx="3017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Elevam a nota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Álcool, sulfatos e ácido cítrico (frescor).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Derrubam a nota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Acidez volátil e, em menor grau, cloretos (sal) e excesso de SO₂.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E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não importam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Açúcar residual, pH e SO₂ livre.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Os sinais se somam: álcool alto + acidez baixa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2148840" y="1417320"/>
            <a:ext cx="5715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vinhos de alta qualidade em cada combinação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52943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10%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593592" y="52943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11%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38344" y="52943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– 12%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83096" y="52943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12%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5614416"/>
            <a:ext cx="5705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 alcoólico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87452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2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0,4 g/L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48840" y="1874520"/>
            <a:ext cx="1371600" cy="1051560"/>
          </a:xfrm>
          <a:prstGeom prst="rect">
            <a:avLst/>
          </a:prstGeom>
          <a:solidFill>
            <a:srgbClr val="DDD1D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148840" y="18745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vinhos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593592" y="1874520"/>
            <a:ext cx="1371600" cy="1051560"/>
          </a:xfrm>
          <a:prstGeom prst="rect">
            <a:avLst/>
          </a:prstGeom>
          <a:solidFill>
            <a:srgbClr val="BDA7A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93592" y="18745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vinhos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38344" y="1874520"/>
            <a:ext cx="1371600" cy="1051560"/>
          </a:xfrm>
          <a:prstGeom prst="rect">
            <a:avLst/>
          </a:prstGeom>
          <a:solidFill>
            <a:srgbClr val="764C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38344" y="18745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vinhos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83096" y="1874520"/>
            <a:ext cx="1371600" cy="1051560"/>
          </a:xfrm>
          <a:prstGeom prst="rect">
            <a:avLst/>
          </a:prstGeom>
          <a:solidFill>
            <a:srgbClr val="5522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83096" y="18745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vinhos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2999232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2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 – 0,6 g/L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48840" y="2999232"/>
            <a:ext cx="1371600" cy="1051560"/>
          </a:xfrm>
          <a:prstGeom prst="rect">
            <a:avLst/>
          </a:prstGeom>
          <a:solidFill>
            <a:srgbClr val="F3EDE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148840" y="2999232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 vinhos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593592" y="2999232"/>
            <a:ext cx="1371600" cy="1051560"/>
          </a:xfrm>
          <a:prstGeom prst="rect">
            <a:avLst/>
          </a:prstGeom>
          <a:solidFill>
            <a:srgbClr val="D9CCD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593592" y="2999232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vinhos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038344" y="2999232"/>
            <a:ext cx="1371600" cy="1051560"/>
          </a:xfrm>
          <a:prstGeom prst="rect">
            <a:avLst/>
          </a:prstGeom>
          <a:solidFill>
            <a:srgbClr val="BBA5A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038344" y="2999232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vinhos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483096" y="2999232"/>
            <a:ext cx="1371600" cy="1051560"/>
          </a:xfrm>
          <a:prstGeom prst="rect">
            <a:avLst/>
          </a:prstGeom>
          <a:solidFill>
            <a:srgbClr val="7C54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83096" y="2999232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vinhos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4123944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2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0,6 g/L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148840" y="4123944"/>
            <a:ext cx="1371600" cy="1051560"/>
          </a:xfrm>
          <a:prstGeom prst="rect">
            <a:avLst/>
          </a:prstGeom>
          <a:solidFill>
            <a:srgbClr val="F6F1F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148840" y="4123944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vinhos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3593592" y="4123944"/>
            <a:ext cx="1371600" cy="1051560"/>
          </a:xfrm>
          <a:prstGeom prst="rect">
            <a:avLst/>
          </a:prstGeom>
          <a:solidFill>
            <a:srgbClr val="EEE6E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93592" y="4123944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vinhos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038344" y="4123944"/>
            <a:ext cx="1371600" cy="1051560"/>
          </a:xfrm>
          <a:prstGeom prst="rect">
            <a:avLst/>
          </a:prstGeom>
          <a:solidFill>
            <a:srgbClr val="E7DDE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038344" y="4123944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vinhos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483096" y="4123944"/>
            <a:ext cx="1371600" cy="1051560"/>
          </a:xfrm>
          <a:prstGeom prst="rect">
            <a:avLst/>
          </a:prstGeom>
          <a:solidFill>
            <a:srgbClr val="B39AA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83096" y="4123944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vinhos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868680" y="1508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2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Acidez volátil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46720" y="155448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38" name="Shape 36"/>
          <p:cNvSpPr/>
          <p:nvPr/>
        </p:nvSpPr>
        <p:spPr>
          <a:xfrm>
            <a:off x="8366760" y="1783080"/>
            <a:ext cx="685800" cy="685800"/>
          </a:xfrm>
          <a:prstGeom prst="ellipse">
            <a:avLst/>
          </a:prstGeom>
          <a:solidFill>
            <a:srgbClr val="8C1C3A"/>
          </a:solidFill>
          <a:ln/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5068" y="1961388"/>
            <a:ext cx="329184" cy="329184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8366760" y="2651760"/>
            <a:ext cx="3017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Álcool ≥ 12% e acidez volátil &lt; 0,4 g/L: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dos vinhos são excelentes.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Álcool &lt; 10% e acidez volátil ≥ 0,6 g/L: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6E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dos 185 vinhos é excelente.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medida sozinha basta: a excelência depende do conjunto.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 ferramenta encontra quase 4 em cada 5 excelentes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713232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046720" y="155448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8366760" y="1783080"/>
            <a:ext cx="685800" cy="685800"/>
          </a:xfrm>
          <a:prstGeom prst="ellipse">
            <a:avLst/>
          </a:prstGeom>
          <a:solidFill>
            <a:srgbClr val="8C1C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5068" y="196138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66760" y="2651760"/>
            <a:ext cx="3017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Escolhida: floresta de decisões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dos 27 excelentes, com menos alarmes falsos.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a análise: álcool, sulfatos e acidez volátil são o que mais pesa.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6E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"Vinhos semelhantes" acerta 90% no geral, mas perde metade dos excelentes.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366760" y="5532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 técnicos: Random Forest, Regressão Logística, Árvore de Decisão, SVM e KNN.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Triagem: 30% dos lotes, 93% dos excelentes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713232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046720" y="155448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366760" y="1783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Avaliando primeiro os lotes mais promissores: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366760" y="25603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5F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326880" y="25603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738360" y="25603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10652760" y="26700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excelentes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35204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5F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9326880" y="35204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9738360" y="35204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10652760" y="3630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excelentes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366760" y="44805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5F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9326880" y="44805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9738360" y="44805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10652760" y="45902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excelentes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5349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E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 ferramenta, avaliar 30% dos lotes encontraria só ~30% dos excelentes.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Faixas de ação: a chance prevista acompanha a realidade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74720" cy="35204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83080"/>
            <a:ext cx="685800" cy="685800"/>
          </a:xfrm>
          <a:prstGeom prst="ellipse">
            <a:avLst/>
          </a:prstGeom>
          <a:solidFill>
            <a:srgbClr val="8C1C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19613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783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Prioridade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176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≥ 40%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eram realmente excelentes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069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lotes (11% do total)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4348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primeiro; candidato a premium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97680" y="1554480"/>
            <a:ext cx="3474720" cy="35204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4617720" y="178308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28" y="196138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440680" y="1783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440680" y="2176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de 10% a 40%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617720" y="27432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</a:t>
            </a:r>
            <a:endParaRPr lang="en-US" sz="4800" dirty="0"/>
          </a:p>
        </p:txBody>
      </p:sp>
      <p:sp>
        <p:nvSpPr>
          <p:cNvPr id="18" name="Text 14"/>
          <p:cNvSpPr txBox="1"/>
          <p:nvPr/>
        </p:nvSpPr>
        <p:spPr>
          <a:xfrm>
            <a:off x="4617720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eram realmente excelentes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4617720" y="4069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lotes (19% do total)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4617720" y="44348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em seguida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8046720" y="1554480"/>
            <a:ext cx="3474720" cy="35204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22" name="Shape 18"/>
          <p:cNvSpPr/>
          <p:nvPr/>
        </p:nvSpPr>
        <p:spPr>
          <a:xfrm>
            <a:off x="8366760" y="1783080"/>
            <a:ext cx="685800" cy="685800"/>
          </a:xfrm>
          <a:prstGeom prst="ellipse">
            <a:avLst/>
          </a:prstGeom>
          <a:solidFill>
            <a:srgbClr val="A8979E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068" y="1961388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9189720" y="1783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Baixo potencial</a:t>
            </a:r>
            <a:endParaRPr lang="en-US" sz="2100" dirty="0"/>
          </a:p>
        </p:txBody>
      </p:sp>
      <p:sp>
        <p:nvSpPr>
          <p:cNvPr id="25" name="Text 20"/>
          <p:cNvSpPr txBox="1"/>
          <p:nvPr/>
        </p:nvSpPr>
        <p:spPr>
          <a:xfrm>
            <a:off x="9189720" y="2176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&lt; 10%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8366760" y="27432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6E5F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1,4%</a:t>
            </a:r>
            <a:endParaRPr lang="en-US" sz="4800" dirty="0"/>
          </a:p>
        </p:txBody>
      </p:sp>
      <p:sp>
        <p:nvSpPr>
          <p:cNvPr id="27" name="Text 22"/>
          <p:cNvSpPr txBox="1"/>
          <p:nvPr/>
        </p:nvSpPr>
        <p:spPr>
          <a:xfrm>
            <a:off x="8366760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eram realmente excelentes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8366760" y="4069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lotes (70% do total)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8366760" y="44348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simplificada; investigar o processo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548640" y="5257800"/>
            <a:ext cx="1106424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68680" y="52578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operação: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 menos avaliações completas, mantendo ~93% dos excelentes no fluxo prioritário.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Simulador: o perfil completo multiplica a chance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713232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046720" y="155448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8366760" y="1783080"/>
            <a:ext cx="685800" cy="685800"/>
          </a:xfrm>
          <a:prstGeom prst="ellipse">
            <a:avLst/>
          </a:prstGeom>
          <a:solidFill>
            <a:srgbClr val="8C1C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5068" y="196138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66760" y="2651760"/>
            <a:ext cx="3017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 típico: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álcool 10,2%, acidez volátil 0,52, sulfatos 0,62. Chance de ~2%.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metas de processo juntas triplicam a chance (~6%).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perfil completo dos excelentes chega a ~24%: os sulfatos são a peça que falta investigar.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6E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baseada em padrões dos dados: validar em lotes-piloto.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Recomendações e próximo passo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949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92808"/>
            <a:ext cx="868680" cy="868680"/>
          </a:xfrm>
          <a:prstGeom prst="ellipse">
            <a:avLst/>
          </a:prstGeom>
          <a:solidFill>
            <a:srgbClr val="8C1C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817" y="2118665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7830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Álcool ≥ 11,5%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228600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Maturação da uva e fermentação completa.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0" y="1508760"/>
            <a:ext cx="53949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1892808"/>
            <a:ext cx="868680" cy="868680"/>
          </a:xfrm>
          <a:prstGeom prst="ellipse">
            <a:avLst/>
          </a:prstGeom>
          <a:solidFill>
            <a:srgbClr val="8C1C3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097" y="2118665"/>
            <a:ext cx="416966" cy="41696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7830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Acidez volátil &lt; 0,4 g/L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28600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Higiene, temperatura e menos oxigênio. Medir como alerta precoce.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48640" y="3337560"/>
            <a:ext cx="53949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3721608"/>
            <a:ext cx="868680" cy="868680"/>
          </a:xfrm>
          <a:prstGeom prst="ellipse">
            <a:avLst/>
          </a:prstGeom>
          <a:solidFill>
            <a:srgbClr val="8C1C3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17" y="3947465"/>
            <a:ext cx="416966" cy="41696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20240" y="36118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Sulfatos: investigar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920240" y="411480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por que os melhores têm 0,65 a 0,85 g/L, sem aumentar o SO₂.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217920" y="3337560"/>
            <a:ext cx="53949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6492240" y="3721608"/>
            <a:ext cx="868680" cy="868680"/>
          </a:xfrm>
          <a:prstGeom prst="ellipse">
            <a:avLst/>
          </a:prstGeom>
          <a:solidFill>
            <a:srgbClr val="8C1C3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097" y="3947465"/>
            <a:ext cx="416966" cy="41696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89520" y="36118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Triagem com a ferramenta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589520" y="411480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os lotes de maior chance na avaliação sensorial.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548640" y="5257800"/>
            <a:ext cx="1106424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868680" y="52578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na próxima safra, comparando lotes com e sem essas práticas, antes de mudar o processo em escala.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nho">
  <a:themeElements>
    <a:clrScheme name="Vinho">
      <a:dk1>
        <a:srgbClr val="2B1B22"/>
      </a:dk1>
      <a:lt1>
        <a:srgbClr val="FFFFFF"/>
      </a:lt1>
      <a:dk2>
        <a:srgbClr val="4A1426"/>
      </a:dk2>
      <a:lt2>
        <a:srgbClr val="F6F1F3"/>
      </a:lt2>
      <a:accent1>
        <a:srgbClr val="8C1C3A"/>
      </a:accent1>
      <a:accent2>
        <a:srgbClr val="C9A227"/>
      </a:accent2>
      <a:accent3>
        <a:srgbClr val="A8979E"/>
      </a:accent3>
      <a:accent4>
        <a:srgbClr val="3E6B5A"/>
      </a:accent4>
      <a:accent5>
        <a:srgbClr val="6B5B95"/>
      </a:accent5>
      <a:accent6>
        <a:srgbClr val="D9822B"/>
      </a:accent6>
      <a:hlink>
        <a:srgbClr val="8C1C3A"/>
      </a:hlink>
      <a:folHlink>
        <a:srgbClr val="6B5B95"/>
      </a:folHlink>
    </a:clrScheme>
    <a:fontScheme name="Vinh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que torna um vinho excelente?</dc:title>
  <dc:subject>PptxGenJS Presentation</dc:subject>
  <dc:creator>Evanio Alves Carvalho, Michael Alves Pateis dos Santos, Guilherme Castilho Feitosa, Natália de Santana Cavalcanti</dc:creator>
  <cp:lastModifiedBy>Evanio Alves Carvalho, Michael Alves Pateis dos Santos, Guilherme Castilho Feitosa, Natália de Santana Cavalcanti</cp:lastModifiedBy>
  <cp:revision>1</cp:revision>
  <dcterms:created xsi:type="dcterms:W3CDTF">2026-10-11T20:02:36Z</dcterms:created>
  <dcterms:modified xsi:type="dcterms:W3CDTF">2026-10-11T20:02:36Z</dcterms:modified>
</cp:coreProperties>
</file>